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4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Multi-Modal Brain Lesion Localization via RL</a:t>
            </a:r>
          </a:p>
          <a:p>
            <a:pPr>
              <a:spcBef>
                <a:spcPts val="1500"/>
              </a:spcBef>
              <a:defRPr sz="2200">
                <a:solidFill>
                  <a:srgbClr val="007AFF"/>
                </a:solidFill>
              </a:defRPr>
            </a:pPr>
            <a:r>
              <a:t>Empirical Evaluation: Non-ViT (CNN) vs. Vision Transformer (ViT) Backbones</a:t>
            </a:r>
          </a:p>
          <a:p>
            <a:pPr>
              <a:spcBef>
                <a:spcPts val="2500"/>
              </a:spcBef>
              <a:defRPr sz="1400">
                <a:solidFill>
                  <a:srgbClr val="B4C8E6"/>
                </a:solidFill>
              </a:defRPr>
            </a:pPr>
            <a:r>
              <a:t>Analysis of Sample Efficiency, Inductive Bias, and Localization Dynamics on BraTS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07AFF"/>
                </a:solidFill>
              </a:defRPr>
            </a:pPr>
            <a:r>
              <a:t>ACADEMIC PROJECT EVALUATION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 &amp; Research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Problem Formulation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Models 2D multi-modal brain tumor localization as a sequential RL decision-making task.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Agent observes a 4-channel stacked patch tensor [4, 64, 64] (T1n, T1c, T2w, FLAIR) and bounding box coords.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7 spatial actions: Move (Left/Right/Up/Down), Zoom (In/Out), and Terminate.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Evaluated on 125 held-out BraTS 2023 validation cases across Whole Tumor (WT), Tumor Core (TC), and Enhancing Tumor (ET).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Empirical Objective &amp; Key Finding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Core Question: Does a Vision Transformer (ViT) self-attention backbone outperform a ResNet CNN encoder under standard training budgets?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Empirical Result: Non-ViT (CNN) outperforms ViT on overlap accuracy (WT Dice 0.2732 vs 0.2487).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• Key Insight: ViT reaches its best window faster (Step 11.8 vs 15.4), but CNN achieves higher final overlap accuracy due to stronger local inductive biases on limited case volumes.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07AFF"/>
                </a:solidFill>
              </a:defRPr>
            </a:pPr>
            <a:r>
              <a:t>ACADEMIC PROJECT EVALUATION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Architectural Breakdown: CNN vs. ViT Encoders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Non-ViT (ResNet CNN Encoder)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Architecture: 2D ResNet-style Convolutional Network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Inductive Bias: Strong local translation invariance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Parameter Efficiency: High feature reuse per parameter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Sample Efficiency: Highly sample-efficient on small datasets (500 cases)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Empirical Metric: Reached WT Dice of 0.2732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✔ Behavior: Higher accuracy, requires more exploration steps (77.1% step frac)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800" b="1">
                <a:solidFill>
                  <a:srgbClr val="0F2043"/>
                </a:solidFill>
              </a:defRPr>
            </a:pPr>
            <a:r>
              <a:t>ViT (Vision Transformer Encoder)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Architecture: 8x8 Patch Tokenization + MHSA Transformer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Inductive Bias: Minimal spatial prior (learned attention)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Data Requirement: Data-hungry, relies on large scale / pretraining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Sample Efficiency: Lower sample-efficiency when trained from scratch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Empirical Metric: Reached WT Dice of 0.2487</a:t>
            </a:r>
          </a:p>
          <a:p>
            <a:pPr>
              <a:spcBef>
                <a:spcPts val="1000"/>
              </a:spcBef>
              <a:defRPr sz="1300">
                <a:solidFill>
                  <a:srgbClr val="212529"/>
                </a:solidFill>
              </a:defRPr>
            </a:pPr>
            <a:r>
              <a:t>★ Behavior: Reaches peak window earlier (58.8% step frac), but lower overlap peak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07AFF"/>
                </a:solidFill>
              </a:defRPr>
            </a:pPr>
            <a:r>
              <a:t>ACADEMIC PROJECT EVALUATION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Training Dynamics &amp; Convergence Behavior</a:t>
            </a:r>
          </a:p>
        </p:txBody>
      </p:sp>
      <p:pic>
        <p:nvPicPr>
          <p:cNvPr id="3" name="Picture 2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1706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438912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043"/>
                </a:solidFill>
              </a:defRPr>
            </a:pPr>
            <a:r>
              <a:t>Training Observation &amp; Loss Stabilization Analysis: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Both agents demonstrate steady Q-loss convergence across training episodes.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CNN model leverages convolutional weight sharing to form robust spatial representations faster.</a:t>
            </a:r>
          </a:p>
          <a:p>
            <a:pPr>
              <a:spcBef>
                <a:spcPts val="600"/>
              </a:spcBef>
              <a:defRPr sz="1300">
                <a:solidFill>
                  <a:srgbClr val="212529"/>
                </a:solidFill>
              </a:defRPr>
            </a:pPr>
            <a:r>
              <a:t>• ViT model shows rapid trajectory convergence (settling windows earlier) but suffers from sample inefficiency on tumor boundaries when trained from scratch.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07AFF"/>
                </a:solidFill>
              </a:defRPr>
            </a:pPr>
            <a:r>
              <a:t>ACADEMIC PROJECT EVALUATION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Real Measured Evaluation Metrics (N=125 Validation Cases)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Subregion / Metric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Non-ViT (CNN)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ViT (Transformer)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Absolute Difference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Outperforming Model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Whole Tumor (WT) Dice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0.2732 ± 0.108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0.2487 ± 0.100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-0.0246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Non-ViT (CNN) +9.9%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Whole Tumor (WT) IoU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0.1629 ± 0.076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0.1457 ± 0.066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-0.0172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Non-ViT (CNN) +11.8%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Tumor Core (TC) Dice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0.1182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0.1049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-0.0134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Non-ViT (CNN) +12.7%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Enhancing Tumor (ET) 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0.0799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0.0695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-0.0104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Non-ViT (CNN) +14.9%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Mean Best-Step Fraction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77.1% (~Step 15.4)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58.8% (~Step 11.8)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-18.3%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12529"/>
                          </a:solidFill>
                        </a:defRPr>
                      </a:pPr>
                      <a:r>
                        <a:t>ViT (Faster trajectory)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 descr="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97680"/>
            <a:ext cx="5266944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4297680"/>
            <a:ext cx="484632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043"/>
                </a:solidFill>
              </a:defRPr>
            </a:pPr>
            <a:r>
              <a:t>Key Findings: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</a:defRPr>
            </a:pPr>
            <a:r>
              <a:t>• CNN achieves higher Whole Tumor Dice (0.2732 vs 0.2487).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</a:defRPr>
            </a:pPr>
            <a:r>
              <a:t>• CNN achieves superior Jaccard IoU (0.1629 vs 0.1457).</a:t>
            </a:r>
          </a:p>
          <a:p>
            <a:pPr>
              <a:spcBef>
                <a:spcPts val="400"/>
              </a:spcBef>
              <a:defRPr sz="1200">
                <a:solidFill>
                  <a:srgbClr val="212529"/>
                </a:solidFill>
              </a:defRPr>
            </a:pPr>
            <a:r>
              <a:t>• ViT reaches its best window earlier in the episode (58.8% vs 77.1%), but the window overlap quality is lower.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07AFF"/>
                </a:solidFill>
              </a:defRPr>
            </a:pPr>
            <a:r>
              <a:t>ACADEMIC PROJECT EVALUATION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Localization Trajectory &amp; Step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043"/>
                </a:solidFill>
              </a:defRPr>
            </a:pPr>
            <a:r>
              <a:t>Trajectory Speed vs. Overlap Accuracy: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1. ViT Best-Step Fraction: Settles on its best window at 58.8% of the trajectory (~Step 11.8).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2. CNN Best-Step Fraction: Refines its window longer, reaching peak overlap at 77.1% of the trajectory (~Step 15.4).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3. Trade-off Analysis: ViT converges faster in terms of episode steps, but its feature representation is less precise on lesion boundaries without large-scale pretraining.</a:t>
            </a:r>
          </a:p>
          <a:p>
            <a:pPr>
              <a:spcBef>
                <a:spcPts val="1200"/>
              </a:spcBef>
              <a:defRPr sz="1300">
                <a:solidFill>
                  <a:srgbClr val="212529"/>
                </a:solidFill>
              </a:defRPr>
            </a:pPr>
            <a:r>
              <a:t>4. Practical Implication: Refinement steps allowed the CNN agent to achieve superior final bounding box alignment.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07AFF"/>
                </a:solidFill>
              </a:defRPr>
            </a:pPr>
            <a:r>
              <a:t>ACADEMIC PROJECT EVALUATION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Scientific Inference: Sample Efficiency Gap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1. Inductive Bias Advantage of CNNs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Convolutional Inductive Bias: CNNs inherently assume spatial locality and translation invariance.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Data-Efficiency: On modest dataset sizes (500 cases), local convolutions allow rapid convergence to sharp spatial representations.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Localization Precision: Enables CNN to outline tumor borders with higher Dice accuracy.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5F7FA"/>
          </a:solidFill>
          <a:ln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/>
          <a:lstStyle/>
          <a:p>
            <a:pPr algn="ctr">
              <a:defRPr sz="1600" b="1">
                <a:solidFill>
                  <a:srgbClr val="0F2043"/>
                </a:solidFill>
              </a:defRPr>
            </a:pPr>
            <a:r>
              <a:t>2. Data-Hungriness of Scratch ViT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Lack of Spatial Prior: ViT must learn all spatial patch relationships from scratch without convolutional priors.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Sample Efficiency Gap: Requires larger case volumes or self-supervised pretraining (e.g. DINO/MAE) to learn fine-grained spatial attention.</a:t>
            </a:r>
          </a:p>
          <a:p>
            <a:pPr>
              <a:spcBef>
                <a:spcPts val="1000"/>
              </a:spcBef>
              <a:defRPr sz="1200">
                <a:solidFill>
                  <a:srgbClr val="212529"/>
                </a:solidFill>
              </a:defRPr>
            </a:pPr>
            <a:r>
              <a:t>• Observed Result: Settles quickly on a coarse window, but achieves lower overlap accuracy than CNN.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37160"/>
          <a:lstStyle/>
          <a:p>
            <a:pPr algn="ctr">
              <a:defRPr sz="1000" b="1">
                <a:solidFill>
                  <a:srgbClr val="007AFF"/>
                </a:solidFill>
              </a:defRPr>
            </a:pPr>
            <a:r>
              <a:t>ACADEMIC PROJECT EVALUATION REPORT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Academic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9448495" cy="4754880"/>
          </a:xfrm>
          <a:prstGeom prst="roundRect">
            <a:avLst/>
          </a:prstGeom>
          <a:solidFill>
            <a:srgbClr val="F5F7FA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365760"/>
          <a:lstStyle/>
          <a:p>
            <a:pPr algn="ctr">
              <a:defRPr sz="2000" b="1">
                <a:solidFill>
                  <a:srgbClr val="0F2043"/>
                </a:solidFill>
              </a:defRPr>
            </a:pPr>
            <a:r>
              <a:t>Empirical Summary &amp; Thesis Recommendations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Honest Empirical Finding: Under standard training budgets, Non-ViT (CNN) outperforms ViT on overlap accuracy (WT Dice 0.2732 vs 0.2487).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Trajectory Insight: ViT settles on windows earlier (58.8% vs 77.1% step frac), but CNN achieves superior boundary refinement.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✔ Defensible Conclusion: The performance gap is a sample-efficiency limitation inherent to training Transformers from scratch on small medical datasets without pretraining.</a:t>
            </a:r>
          </a:p>
          <a:p>
            <a:pPr>
              <a:spcBef>
                <a:spcPts val="1400"/>
              </a:spcBef>
              <a:defRPr sz="1400">
                <a:solidFill>
                  <a:srgbClr val="212529"/>
                </a:solidFill>
              </a:defRPr>
            </a:pPr>
            <a:r>
              <a:t>🚀 Recommendation for Future Work: Incorporate self-supervised ViT pretraining (DINO/MAE) or hybrid CNN-ViT backbones before RL policy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